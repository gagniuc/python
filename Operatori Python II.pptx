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6170-70DD-656E-75A4-6EA9A8D22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A8C70-BA93-6D6F-7862-0915A4710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97C33-02AA-A493-D05C-158FB9996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AF83D-156E-6AA3-7E37-7E5B7A40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58A78-22E5-8DA8-7B8A-76A281CE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29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2EB6F-27F1-0169-2C27-DCA7B1546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20815-0D32-F788-E162-64EE2383D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0B379-0C19-DF8D-9B54-067FFDFD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225D1-7CED-C58D-99B8-E68D9E69C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3217A-6CB6-1879-9D7F-BBAB3A5E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13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77E8-8C0C-B3F1-612A-0B12A8AC5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632C7-42E9-AC21-FF41-DE3B84424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69B4C-18FD-ED9C-93F3-250721942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A327-4973-90A6-C213-1CC0FB3F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FC11-797A-319E-E804-AB731A85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4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DA35-36C5-5DDA-DC32-A8DCDEE9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57092-DD19-408A-4644-0E3C65568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BD654-0D34-AAD3-B9DA-654375E96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60521-C73D-AF0F-7051-F63610E69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C855C-53F0-8B35-83EE-EE3DD8D7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48DB5-03C8-88BE-61C6-44A710ED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071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FA16-8DC7-30AF-77A3-13369DC3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F8FAA-2484-18C5-26B1-855508BB0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3A839-02F5-8037-268E-9DE6B8B5C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D844F-7FA8-0090-F7ED-57462F97F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D20FFA-71E0-2AD6-36A6-2EAEA7A17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C7D971-37F5-4F2F-8EA9-01022586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A874B5-E8D3-4BB3-EC29-F4846762F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E47C5-331E-226A-97A0-639E055B8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77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3071-929C-521C-6C3E-A34A1F2D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BB03D-2FAC-6ECB-667E-E5EF2EF9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2D5F4-9DF6-804A-2D45-F86428E8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AFA08-954A-BBB5-5AAC-2DD6F5F1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86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035608-E4DF-0B14-1DFF-2F07397C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9ABA4-1FF9-27EA-8F01-B9108F00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845E2-5C8D-862F-D2C9-5BAAC749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42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4626-4323-4E06-F50D-947DDA87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C8830-143B-AB16-0F8F-44A354AC5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86DA1-BC59-701C-D515-F92480CEB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47D4D-CF2F-9120-9488-F45A2B13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14D99-7A20-1689-7910-C65AF0EF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480C2-BA44-E6F2-45E3-A0F3E8C3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67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574E-BA38-D5A1-7DFC-42E409B3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723FE6-6B1A-26A5-40A9-BD1FAB714C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64712-0621-8599-B77A-C8F212E8F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57EFB-7A24-F0A5-383E-6F1E224F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DA410-F322-5D40-1425-D22B5C58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CB056-CD49-8A8B-29BD-6E600A75F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92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243F-FAD2-E455-27A0-6D85B573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27A21-4764-A289-8734-53C72829D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3A6E4-BEF6-1971-640C-68BCE7B6C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61E49-960B-09ED-775D-A8803E82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1015C-226F-33A5-DE66-B82A3460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202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2408A8-4CA9-1DE6-887E-C269D79D7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689F6-5770-9296-51AF-687AFB8C5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410D8-92B8-F21F-8C8D-81256556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EF750-0779-D0DC-B38C-E6655A37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71E29-152D-503E-36F3-4DE96A3F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91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C4DE05-84A3-906E-394E-709A4797F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0FA1A-D801-F2B6-5B7B-B94D125F5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855A6-1DAB-7BBD-E26B-D3459A7F6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30B31-F1AB-613A-47A5-A87C2D387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6A787-5518-87FD-E0D2-32ED8DB04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9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DD844-7C28-D227-C6FA-B5E88657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BA8E531-6570-4C67-41BF-8CBA1A28E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980923"/>
              </p:ext>
            </p:extLst>
          </p:nvPr>
        </p:nvGraphicFramePr>
        <p:xfrm>
          <a:off x="6672542" y="802623"/>
          <a:ext cx="4344708" cy="1507944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3095708177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516936157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3214883130"/>
                    </a:ext>
                  </a:extLst>
                </a:gridCol>
                <a:gridCol w="1760258">
                  <a:extLst>
                    <a:ext uri="{9D8B030D-6E8A-4147-A177-3AD203B41FA5}">
                      <a16:colId xmlns:a16="http://schemas.microsoft.com/office/drawing/2014/main" val="2722634399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421975894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and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și 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True and False → False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309383068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sau 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True or False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787259138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Logic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not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negare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not True → False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623645448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Apartenență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in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element </a:t>
                      </a:r>
                      <a:r>
                        <a:rPr lang="en-GB" sz="1000" dirty="0" err="1"/>
                        <a:t>în</a:t>
                      </a:r>
                      <a:r>
                        <a:rPr lang="en-GB" sz="1000" dirty="0"/>
                        <a:t> </a:t>
                      </a:r>
                      <a:r>
                        <a:rPr lang="en-GB" sz="1000" dirty="0" err="1"/>
                        <a:t>colecție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3 in [1,2,3]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776875088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Apartenență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not in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element absent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4 not in [1,2,3]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430955313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Identitate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is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același obiect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 is b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616730719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Identitate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is not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obiect</a:t>
                      </a:r>
                      <a:r>
                        <a:rPr lang="en-GB" sz="1000" dirty="0"/>
                        <a:t> </a:t>
                      </a:r>
                      <a:r>
                        <a:rPr lang="en-GB" sz="1000" dirty="0" err="1"/>
                        <a:t>diferit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a is not b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45540192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2FD2A0-8A84-2AA5-C5A5-D4E6CAD8A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683802"/>
              </p:ext>
            </p:extLst>
          </p:nvPr>
        </p:nvGraphicFramePr>
        <p:xfrm>
          <a:off x="1339850" y="866775"/>
          <a:ext cx="4356099" cy="1443792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1089025">
                  <a:extLst>
                    <a:ext uri="{9D8B030D-6E8A-4147-A177-3AD203B41FA5}">
                      <a16:colId xmlns:a16="http://schemas.microsoft.com/office/drawing/2014/main" val="2830742063"/>
                    </a:ext>
                  </a:extLst>
                </a:gridCol>
                <a:gridCol w="679292">
                  <a:extLst>
                    <a:ext uri="{9D8B030D-6E8A-4147-A177-3AD203B41FA5}">
                      <a16:colId xmlns:a16="http://schemas.microsoft.com/office/drawing/2014/main" val="3812003575"/>
                    </a:ext>
                  </a:extLst>
                </a:gridCol>
                <a:gridCol w="1421453">
                  <a:extLst>
                    <a:ext uri="{9D8B030D-6E8A-4147-A177-3AD203B41FA5}">
                      <a16:colId xmlns:a16="http://schemas.microsoft.com/office/drawing/2014/main" val="2401518407"/>
                    </a:ext>
                  </a:extLst>
                </a:gridCol>
                <a:gridCol w="1166329">
                  <a:extLst>
                    <a:ext uri="{9D8B030D-6E8A-4147-A177-3AD203B41FA5}">
                      <a16:colId xmlns:a16="http://schemas.microsoft.com/office/drawing/2014/main" val="2822776982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420556441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+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adunare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3 + 2 → 5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931579209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-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scădere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5 - 2 →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150545068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*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înmulțire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4 * 3 → 12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981445930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10 / 2 → 5.0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7248234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//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 întreagă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10 // 3 →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4066278925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%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restul împărțirii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10 % 3 → 1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03051087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**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ridicare la putere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2 ** 3 → 8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9098577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FC6EF8-F745-F4E2-2B0A-993DDFAB9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768083"/>
              </p:ext>
            </p:extLst>
          </p:nvPr>
        </p:nvGraphicFramePr>
        <p:xfrm>
          <a:off x="1339850" y="2581607"/>
          <a:ext cx="4356100" cy="1640304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515744069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615452204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1616164007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3965001728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635409467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Atribuire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atribuire</a:t>
                      </a:r>
                      <a:r>
                        <a:rPr lang="en-GB" sz="1000" dirty="0"/>
                        <a:t> </a:t>
                      </a:r>
                      <a:r>
                        <a:rPr lang="en-GB" sz="1000" dirty="0" err="1"/>
                        <a:t>valoare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= 5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61322628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+=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adunare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+=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920559948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-=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scădere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-= 1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551586390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*=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înmulțire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*=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65751465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/=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942169390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//=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 întreagă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//=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37786986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%=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rest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%=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09741792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**=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putere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**=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99247269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CBBBB0-1401-734E-6351-261A63A66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462659"/>
              </p:ext>
            </p:extLst>
          </p:nvPr>
        </p:nvGraphicFramePr>
        <p:xfrm>
          <a:off x="1295399" y="4629313"/>
          <a:ext cx="4400549" cy="1263318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1100137">
                  <a:extLst>
                    <a:ext uri="{9D8B030D-6E8A-4147-A177-3AD203B41FA5}">
                      <a16:colId xmlns:a16="http://schemas.microsoft.com/office/drawing/2014/main" val="3095708177"/>
                    </a:ext>
                  </a:extLst>
                </a:gridCol>
                <a:gridCol w="737892">
                  <a:extLst>
                    <a:ext uri="{9D8B030D-6E8A-4147-A177-3AD203B41FA5}">
                      <a16:colId xmlns:a16="http://schemas.microsoft.com/office/drawing/2014/main" val="2516936157"/>
                    </a:ext>
                  </a:extLst>
                </a:gridCol>
                <a:gridCol w="1462383">
                  <a:extLst>
                    <a:ext uri="{9D8B030D-6E8A-4147-A177-3AD203B41FA5}">
                      <a16:colId xmlns:a16="http://schemas.microsoft.com/office/drawing/2014/main" val="3214883130"/>
                    </a:ext>
                  </a:extLst>
                </a:gridCol>
                <a:gridCol w="1100137">
                  <a:extLst>
                    <a:ext uri="{9D8B030D-6E8A-4147-A177-3AD203B41FA5}">
                      <a16:colId xmlns:a16="http://schemas.microsoft.com/office/drawing/2014/main" val="2722634399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42197589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Comparare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==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egalitate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3 == 3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813629427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!=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diferit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3 != 4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88612125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&gt;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5 &gt; 3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44406178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&lt;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2 &lt; 4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4147348551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&gt;=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mare sau egal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4 &gt;= 4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390216681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&lt;=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mic sau egal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3 &lt;= 5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30568452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B41228C-2168-627A-BA8D-D42D661BD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539" y="5671190"/>
            <a:ext cx="1348861" cy="38418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95CB952-10AE-5CFB-173B-98AE2AD0B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100" y="3429000"/>
            <a:ext cx="4292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Operatori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Python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FE6101-3DEC-CED1-C08E-29AA3319B59B}"/>
              </a:ext>
            </a:extLst>
          </p:cNvPr>
          <p:cNvSpPr/>
          <p:nvPr/>
        </p:nvSpPr>
        <p:spPr>
          <a:xfrm>
            <a:off x="990600" y="595735"/>
            <a:ext cx="4984750" cy="5589166"/>
          </a:xfrm>
          <a:prstGeom prst="roundRect">
            <a:avLst>
              <a:gd name="adj" fmla="val 938"/>
            </a:avLst>
          </a:prstGeom>
          <a:solidFill>
            <a:schemeClr val="bg2">
              <a:lumMod val="90000"/>
              <a:alpha val="10000"/>
            </a:schemeClr>
          </a:solidFill>
          <a:ln w="28575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383DE3-20E9-636D-285C-6EEC029A8ADC}"/>
              </a:ext>
            </a:extLst>
          </p:cNvPr>
          <p:cNvSpPr/>
          <p:nvPr/>
        </p:nvSpPr>
        <p:spPr>
          <a:xfrm>
            <a:off x="6324600" y="595735"/>
            <a:ext cx="4984750" cy="5589166"/>
          </a:xfrm>
          <a:prstGeom prst="roundRect">
            <a:avLst>
              <a:gd name="adj" fmla="val 938"/>
            </a:avLst>
          </a:prstGeom>
          <a:solidFill>
            <a:schemeClr val="bg2">
              <a:lumMod val="90000"/>
              <a:alpha val="10000"/>
            </a:schemeClr>
          </a:solidFill>
          <a:ln w="28575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096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273</Words>
  <Application>Microsoft Office PowerPoint</Application>
  <PresentationFormat>Widescreen</PresentationFormat>
  <Paragraphs>129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Operatori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Gagniuc</dc:creator>
  <cp:lastModifiedBy>Paul Gagniuc</cp:lastModifiedBy>
  <cp:revision>4</cp:revision>
  <dcterms:created xsi:type="dcterms:W3CDTF">2026-03-12T09:12:33Z</dcterms:created>
  <dcterms:modified xsi:type="dcterms:W3CDTF">2026-03-12T09:54:07Z</dcterms:modified>
</cp:coreProperties>
</file>